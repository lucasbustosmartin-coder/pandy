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92"/>
    <p:restoredTop sz="94669"/>
  </p:normalViewPr>
  <p:slideViewPr>
    <p:cSldViewPr snapToGrid="0" snapToObjects="1">
      <p:cViewPr varScale="1">
        <p:scale>
          <a:sx n="90" d="100"/>
          <a:sy n="90" d="100"/>
        </p:scale>
        <p:origin x="224" y="7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s-ES_tradnl" noProof="0" dirty="0"/>
              <a:t>Propuesta de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55555"/>
                </a:solidFill>
              </a:defRPr>
            </a:pPr>
            <a:r>
              <a:rPr lang="es-ES_tradnl" noProof="0" dirty="0"/>
              <a:t>Sistema de gestión de órdenes, cajas y cuenta corriente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rPr lang="es-ES_tradnl" noProof="0" dirty="0"/>
              <a:t>Confidencial · 10/03/2026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rPr lang="es-ES_tradnl" noProof="0" dirty="0"/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s-ES_tradnl" noProof="0" dirty="0"/>
              <a:t>El desafío – Un solo lugar para operar con claridad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287" y="1114007"/>
            <a:ext cx="11247120" cy="2793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Operaciones en múltiples monedas (USD, EUR, ARS) y con intermediarios.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Necesidad de trazar cada orden desde la cotización hasta el cobro/pago.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Cajas (efectivo y banco) y cuenta corriente con clientes e intermediarios.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Equipos con distintos niveles de acceso (</a:t>
            </a:r>
            <a:r>
              <a:rPr lang="es-ES_tradnl" sz="1600" b="1" noProof="0" dirty="0" err="1"/>
              <a:t>admin</a:t>
            </a:r>
            <a:r>
              <a:rPr lang="es-ES_tradnl" sz="1600" b="1" noProof="0" dirty="0"/>
              <a:t>, encargado, visor).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Centralizar la operación, con seguridad y sin perder el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rPr lang="es-ES_tradnl" noProof="0" dirty="0"/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s-ES_tradnl" noProof="0" dirty="0"/>
              <a:t>La solución – Una aplicación web a medida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1575"/>
            <a:ext cx="11247120" cy="3932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Panel de Control con saldos por caja (efectivo/banco), variaciones y pendientes.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Órdenes con estados claros (cotización → cerrada → concertada → ejecutada) e instrumentación.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Cajas con movimientos manuales y automáticos por orden; tipos configurables.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Cuenta corriente con clientes e intermediarios; conciliación y comisiones.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Seguridad por roles y permisos granulares (vistas y acciones).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Responsive para usar en escritorio y móvil.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Todo en un solo sistema, accesible desde el navegador.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rPr lang="es-ES_tradnl" noProof="0" dirty="0"/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s-ES_tradnl" noProof="0" dirty="0"/>
              <a:t>Qué gana tu operación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699569"/>
              </p:ext>
            </p:extLst>
          </p:nvPr>
        </p:nvGraphicFramePr>
        <p:xfrm>
          <a:off x="457200" y="86868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ES_tradnl" noProof="0" dirty="0"/>
                        <a:t>Beneficio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ES_tradnl" noProof="0" dirty="0"/>
                        <a:t>Impacto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Trazabilidad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Cada orden y transacción registrada y vinculada a caja y cuenta corriente.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Control por roles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Admin</a:t>
                      </a:r>
                      <a:r>
                        <a:rPr lang="es-ES_tradnl" noProof="0" dirty="0"/>
                        <a:t>, encargado y visor ven solo lo que necesitan; permisos por vista y por acción.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Menos errores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Concertación única, validaciones y mensajería clara.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Múltiples monedas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USD, EUR, ARS en cajas y cuenta corriente; tipos de operación configurables.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s-ES_tradnl" noProof="0" dirty="0"/>
                        <a:t>Uso en celular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noProof="0" dirty="0"/>
                        <a:t>Interfaz adaptable para consultas y tareas básicas en movimiento.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rPr lang="es-ES_tradnl" noProof="0" dirty="0"/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s-ES_tradnl" noProof="0" dirty="0"/>
              <a:t>Alcance del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4909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"/>
              </a:spcBef>
              <a:buAutoNum type="arabicPeriod"/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 err="1"/>
              <a:t>Setup</a:t>
            </a:r>
            <a:r>
              <a:rPr lang="es-ES_tradnl" sz="1600" b="1" noProof="0" dirty="0"/>
              <a:t> y arquitectura – Repo, </a:t>
            </a:r>
            <a:r>
              <a:rPr lang="es-ES_tradnl" sz="1600" b="1" noProof="0" dirty="0" err="1"/>
              <a:t>Supabase</a:t>
            </a:r>
            <a:r>
              <a:rPr lang="es-ES_tradnl" sz="1600" b="1" noProof="0" dirty="0"/>
              <a:t>, </a:t>
            </a:r>
            <a:r>
              <a:rPr lang="es-ES_tradnl" sz="1600" b="1" noProof="0" dirty="0" err="1"/>
              <a:t>Vercel</a:t>
            </a:r>
            <a:r>
              <a:rPr lang="es-ES_tradnl" sz="1600" b="1" noProof="0" dirty="0"/>
              <a:t>, configuración y despliegue.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2. Autenticación y seguridad – </a:t>
            </a:r>
            <a:r>
              <a:rPr lang="es-ES_tradnl" sz="1600" b="1" noProof="0" dirty="0" err="1"/>
              <a:t>Login</a:t>
            </a:r>
            <a:r>
              <a:rPr lang="es-ES_tradnl" sz="1600" b="1" noProof="0" dirty="0"/>
              <a:t>, roles (</a:t>
            </a:r>
            <a:r>
              <a:rPr lang="es-ES_tradnl" sz="1600" b="1" noProof="0" dirty="0" err="1"/>
              <a:t>Admin</a:t>
            </a:r>
            <a:r>
              <a:rPr lang="es-ES_tradnl" sz="1600" b="1" noProof="0" dirty="0"/>
              <a:t>, Encargado, Visor), permisos y RLS.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3. Clientes – Alta, edición y listado con permisos.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dirty="0"/>
              <a:t>4</a:t>
            </a:r>
            <a:r>
              <a:rPr lang="es-ES_tradnl" sz="1600" b="1" noProof="0" dirty="0"/>
              <a:t>. Cajas – Saldos por moneda, movimientos manuales y por orden, Efectivo/Banco.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6. Órdenes – Alta, edición, estados, concertación, monedas e instrumentación.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7. Transacciones – Ingreso/egreso, intermediarios, comisiones, tipos de operación.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8. Cuenta corriente – Cliente e intermediario, conciliación y movimientos.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9. Panel de Control – Saldos, pendientes, accesos (parametrizable por rol).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10. Permisos granulares – Control por vistas y por acciones.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11. Experiencia de usuario – </a:t>
            </a:r>
            <a:r>
              <a:rPr lang="es-ES_tradnl" sz="1600" b="1" noProof="0" dirty="0" err="1"/>
              <a:t>Toasts</a:t>
            </a:r>
            <a:r>
              <a:rPr lang="es-ES_tradnl" sz="1600" b="1" noProof="0" dirty="0"/>
              <a:t>, confirmaciones, validaciones.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12. Responsive – Adaptación móvil, </a:t>
            </a:r>
            <a:r>
              <a:rPr lang="es-ES_tradnl" sz="1600" b="1" noProof="0" dirty="0" err="1"/>
              <a:t>touch</a:t>
            </a:r>
            <a:r>
              <a:rPr lang="es-ES_tradnl" sz="1600" b="1" noProof="0" dirty="0"/>
              <a:t> y buenas prácticas.</a:t>
            </a:r>
          </a:p>
          <a:p>
            <a:pPr>
              <a:lnSpc>
                <a:spcPct val="150000"/>
              </a:lnSpc>
              <a:spcBef>
                <a:spcPts val="300"/>
              </a:spcBef>
              <a:defRPr sz="1200">
                <a:solidFill>
                  <a:srgbClr val="1A1A1A"/>
                </a:solidFill>
              </a:defRPr>
            </a:pPr>
            <a:r>
              <a:rPr lang="es-ES_tradnl" sz="1600" b="1" noProof="0" dirty="0"/>
              <a:t>13. Documentación y despliegue continuo.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rPr lang="es-ES_tradnl" noProof="0" dirty="0"/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s-ES_tradnl" noProof="0" dirty="0"/>
              <a:t>Inversión – Desarrollo por funcionalidad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rPr lang="es-ES_tradnl" noProof="0" dirty="0"/>
              <a:t>Tarifa de referencia: USD 38/h (Argentina). Datos: solapa Presupuesto de la bitácora.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363002"/>
              </p:ext>
            </p:extLst>
          </p:nvPr>
        </p:nvGraphicFramePr>
        <p:xfrm>
          <a:off x="457200" y="1051560"/>
          <a:ext cx="11247120" cy="5494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213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ES_tradnl" noProof="0" dirty="0"/>
                        <a:t>Funcionalidad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ES_tradnl" noProof="0" dirty="0"/>
                        <a:t>Horas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lang="es-ES_tradnl" noProof="0" dirty="0"/>
                        <a:t>Importe (USD)</a:t>
                      </a:r>
                    </a:p>
                  </a:txBody>
                  <a:tcPr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 err="1"/>
                        <a:t>Setup</a:t>
                      </a:r>
                      <a:r>
                        <a:rPr lang="es-ES_tradnl" noProof="0" dirty="0"/>
                        <a:t> y arquitectura (repo </a:t>
                      </a:r>
                      <a:r>
                        <a:rPr lang="es-ES_tradnl" noProof="0" dirty="0" err="1"/>
                        <a:t>Supabase</a:t>
                      </a:r>
                      <a:r>
                        <a:rPr lang="es-ES_tradnl" noProof="0" dirty="0"/>
                        <a:t> </a:t>
                      </a:r>
                      <a:r>
                        <a:rPr lang="es-ES_tradnl" noProof="0" dirty="0" err="1"/>
                        <a:t>Vercel</a:t>
                      </a:r>
                      <a:r>
                        <a:rPr lang="es-ES_tradnl" noProof="0" dirty="0"/>
                        <a:t> </a:t>
                      </a:r>
                      <a:r>
                        <a:rPr lang="es-ES_tradnl" noProof="0" dirty="0" err="1"/>
                        <a:t>config</a:t>
                      </a:r>
                      <a:r>
                        <a:rPr lang="es-ES_tradnl" noProof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Autenticación y seguridad (</a:t>
                      </a:r>
                      <a:r>
                        <a:rPr lang="es-ES_tradnl" noProof="0" dirty="0" err="1"/>
                        <a:t>Auth</a:t>
                      </a:r>
                      <a:r>
                        <a:rPr lang="es-ES_tradnl" noProof="0" dirty="0"/>
                        <a:t> roles permisos RLS)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912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UI base y navegación (</a:t>
                      </a:r>
                      <a:r>
                        <a:rPr lang="es-ES_tradnl" noProof="0" dirty="0" err="1"/>
                        <a:t>sidebar</a:t>
                      </a:r>
                      <a:r>
                        <a:rPr lang="es-ES_tradnl" noProof="0" dirty="0"/>
                        <a:t> vistas </a:t>
                      </a:r>
                      <a:r>
                        <a:rPr lang="es-ES_tradnl" noProof="0" dirty="0" err="1"/>
                        <a:t>login</a:t>
                      </a:r>
                      <a:r>
                        <a:rPr lang="es-ES_tradnl" noProof="0" dirty="0"/>
                        <a:t> responsive)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760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ABM Clientes (listado alta edición permisos)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304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Módulo Cajas (saldos movimientos tipos Efectivo/Banco)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912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Módulo Órdenes (CRUD estados concertación monedas)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1216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33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Instrumentación y transacciones (intermediarios comisiones)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1064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Cuenta corriente (cliente e intermediario conciliación)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912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Panel de Control (saldos pendientes accesos parametrizable)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608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Permisos granulares y control de vistas por 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Experiencia de usuario (</a:t>
                      </a:r>
                      <a:r>
                        <a:rPr lang="es-ES_tradnl" noProof="0" dirty="0" err="1"/>
                        <a:t>toast</a:t>
                      </a:r>
                      <a:r>
                        <a:rPr lang="es-ES_tradnl" noProof="0" dirty="0"/>
                        <a:t> </a:t>
                      </a:r>
                      <a:r>
                        <a:rPr lang="es-ES_tradnl" noProof="0" dirty="0" err="1"/>
                        <a:t>confirm</a:t>
                      </a:r>
                      <a:r>
                        <a:rPr lang="es-ES_tradnl" noProof="0" dirty="0"/>
                        <a:t> validaciones)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304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Responsive y adaptación móvil (</a:t>
                      </a:r>
                      <a:r>
                        <a:rPr lang="es-ES_tradnl" noProof="0" dirty="0" err="1"/>
                        <a:t>touch</a:t>
                      </a:r>
                      <a:r>
                        <a:rPr lang="es-ES_tradnl" noProof="0" dirty="0"/>
                        <a:t> </a:t>
                      </a:r>
                      <a:r>
                        <a:rPr lang="es-ES_tradnl" noProof="0" dirty="0" err="1"/>
                        <a:t>safe</a:t>
                      </a:r>
                      <a:r>
                        <a:rPr lang="es-ES_tradnl" noProof="0" dirty="0"/>
                        <a:t> </a:t>
                      </a:r>
                      <a:r>
                        <a:rPr lang="es-ES_tradnl" noProof="0" dirty="0" err="1"/>
                        <a:t>area</a:t>
                      </a:r>
                      <a:r>
                        <a:rPr lang="es-ES_tradnl" noProof="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r>
                        <a:rPr lang="es-ES_tradnl" noProof="0" dirty="0"/>
                        <a:t>Documentación bitácora y despliegue continuo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s-ES_tradnl" noProof="0" dirty="0"/>
                        <a:t>456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8213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s-ES_tradnl" noProof="0" dirty="0"/>
                        <a:t>TOTAL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/>
                      </a:pPr>
                      <a:r>
                        <a:rPr lang="es-ES_tradnl" noProof="0" dirty="0"/>
                        <a:t>232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/>
                      </a:pPr>
                      <a:r>
                        <a:rPr lang="es-ES_tradnl" noProof="0" dirty="0"/>
                        <a:t>8816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rPr lang="es-ES_tradnl" noProof="0" dirty="0"/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s-ES_tradnl" noProof="0" dirty="0"/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2793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Reunión de alcance – Validar funcionalidades y prioridades.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Acuerdo comercial – Forma de pago (por hitos o mensual), plazos y aceptación del presupuesto.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</a:t>
            </a:r>
            <a:r>
              <a:rPr lang="es-ES_tradnl" sz="1600" b="1" noProof="0" dirty="0" err="1"/>
              <a:t>Kick</a:t>
            </a:r>
            <a:r>
              <a:rPr lang="es-ES_tradnl" sz="1600" b="1" noProof="0" dirty="0"/>
              <a:t>-off – </a:t>
            </a:r>
            <a:r>
              <a:rPr lang="es-ES_tradnl" sz="1600" b="1" noProof="0" dirty="0" err="1"/>
              <a:t>Setup</a:t>
            </a:r>
            <a:r>
              <a:rPr lang="es-ES_tradnl" sz="1600" b="1" noProof="0" dirty="0"/>
              <a:t> del repo, </a:t>
            </a:r>
            <a:r>
              <a:rPr lang="es-ES_tradnl" sz="1600" b="1" noProof="0" dirty="0" err="1"/>
              <a:t>Supabase</a:t>
            </a:r>
            <a:r>
              <a:rPr lang="es-ES_tradnl" sz="1600" b="1" noProof="0" dirty="0"/>
              <a:t> y primer despliegue.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Desarrollo por módulos – Entregas parciales y pruebas.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 sz="1400">
                <a:solidFill>
                  <a:srgbClr val="1A1A1A"/>
                </a:solidFill>
              </a:defRPr>
            </a:pPr>
            <a:r>
              <a:rPr lang="es-ES_tradnl" sz="1600" b="1" noProof="0" dirty="0"/>
              <a:t>• Puesta en producción – Dominio, variables de entorno y capacitación.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55555"/>
                </a:solidFill>
              </a:defRPr>
            </a:pPr>
            <a:r>
              <a:rPr lang="es-ES_tradnl" noProof="0" dirty="0"/>
              <a:t>Gracias por considerar esta propuesta. Quedamos a disposición para ajustar alcance o plazos.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rPr lang="es-ES_tradnl" noProof="0" dirty="0"/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pic>
        <p:nvPicPr>
          <p:cNvPr id="3" name="Picture 2" descr="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64592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s-ES_tradnl" noProof="0" dirty="0"/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rPr lang="es-ES_tradnl" noProof="0" dirty="0"/>
              <a:t>Quedamos a disposición para ajustar alcance o plazos.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rPr lang="es-ES_tradnl" noProof="0" dirty="0"/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734</Words>
  <Application>Microsoft Macintosh PowerPoint</Application>
  <PresentationFormat>Panorámica</PresentationFormat>
  <Paragraphs>107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Bustos</cp:lastModifiedBy>
  <cp:revision>2</cp:revision>
  <dcterms:created xsi:type="dcterms:W3CDTF">2013-01-27T09:14:16Z</dcterms:created>
  <dcterms:modified xsi:type="dcterms:W3CDTF">2026-03-10T16:31:08Z</dcterms:modified>
  <cp:category/>
</cp:coreProperties>
</file>